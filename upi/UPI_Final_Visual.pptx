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 txns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FY17</c:v>
                </c:pt>
                <c:pt idx="1">
                  <c:v>FY21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1.78</c:v>
                </c:pt>
                <c:pt idx="1">
                  <c:v>2230</c:v>
                </c:pt>
                <c:pt idx="2">
                  <c:v>13100</c:v>
                </c:pt>
                <c:pt idx="3">
                  <c:v>18500</c:v>
                </c:pt>
                <c:pt idx="4">
                  <c:v>24162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Billion txns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Jan24</c:v>
                </c:pt>
                <c:pt idx="1">
                  <c:v>Jan25</c:v>
                </c:pt>
                <c:pt idx="2">
                  <c:v>May26</c:v>
                </c:pt>
                <c:pt idx="3">
                  <c:v>Jun26</c:v>
                </c:pt>
                <c:pt idx="4">
                  <c:v>Jul26</c:v>
                </c:pt>
                <c:pt idx="5">
                  <c:v>Aug26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12.0</c:v>
                </c:pt>
                <c:pt idx="1">
                  <c:v>16.99</c:v>
                </c:pt>
                <c:pt idx="2">
                  <c:v>23.2</c:v>
                </c:pt>
                <c:pt idx="3">
                  <c:v>22.72</c:v>
                </c:pt>
                <c:pt idx="4">
                  <c:v>23.66</c:v>
                </c:pt>
                <c:pt idx="5">
                  <c:v>24.51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PhonePe 46%</c:v>
                </c:pt>
                <c:pt idx="1">
                  <c:v>GPay 35%</c:v>
                </c:pt>
                <c:pt idx="2">
                  <c:v>Paytm 7%</c:v>
                </c:pt>
                <c:pt idx="3">
                  <c:v>Navi 4%</c:v>
                </c:pt>
                <c:pt idx="4">
                  <c:v>Others 8%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35</c:v>
                </c:pt>
                <c:pt idx="2">
                  <c:v>7</c:v>
                </c:pt>
                <c:pt idx="3">
                  <c:v>4</c:v>
                </c:pt>
                <c:pt idx="4">
                  <c:v>8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Govt subsidy RsCr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1389</c:v>
                </c:pt>
                <c:pt idx="1">
                  <c:v>2210</c:v>
                </c:pt>
                <c:pt idx="2">
                  <c:v>3631</c:v>
                </c:pt>
                <c:pt idx="3">
                  <c:v>1500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UPI: Design Innovation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NIFT Midterm 18 Sept 2026 | Group of 5 | Visual Boards | stuti.bisen@nift.ac.in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24.51B txns Aug-2026 record | Rs29.82Lcr | 791M/day</a:t>
            </a:r>
          </a:p>
          <a:p>
            <a:pPr>
              <a:spcAft>
                <a:spcPts val="400"/>
              </a:spcAft>
              <a:defRPr sz="1600"/>
            </a:pPr>
            <a:r>
              <a:t>• 49% global real-time IMF #1 | 741 banks | 55Cr users</a:t>
            </a:r>
          </a:p>
          <a:p>
            <a:pPr>
              <a:spcAft>
                <a:spcPts val="400"/>
              </a:spcAft>
              <a:defRPr sz="1600"/>
            </a:pPr>
            <a:r>
              <a:t>• BREAK Sep-2026: MDR 0.4% &gt;Rs2000 eff 15-Oct-2026, &lt;Rs2000 free</a:t>
            </a:r>
          </a:p>
          <a:p>
            <a:pPr>
              <a:spcAft>
                <a:spcPts val="400"/>
              </a:spcAft>
              <a:defRPr sz="1600"/>
            </a:pPr>
            <a:r>
              <a:t>• Lens: Empathize &gt; Define &gt; Ideate &gt; Prototype &gt; Test &gt; Orchestrate &gt;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828800"/>
            <a:ext cx="3657600" cy="27432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Chai stall QR + Soundbox close-up</a:t>
            </a:r>
            <a:br/>
            <a:r>
              <a:t>Shoot today Delhi</a:t>
            </a:r>
            <a:br/>
            <a:r>
              <a:t>(replace with your shoot)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PHOTOS TO SHOOT: 1 QR wall 2 Soundbox 3 Paying hand 4 Failed screen 5 Sarthi-like BHIM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1. How It Started 2008 &gt; 2016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NPCI JV &gt; IMPS rails &gt; Steering &gt; Pilot &gt; Public &gt; Demonetization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2008 NPCI RBI+IBA Hota/Murthy Sec-8</a:t>
            </a:r>
          </a:p>
          <a:p>
            <a:pPr>
              <a:spcAft>
                <a:spcPts val="400"/>
              </a:spcAft>
              <a:defRPr sz="1300"/>
            </a:pPr>
            <a:r>
              <a:t>• 2010 IMPS 7 banks 24x7 Gopinath</a:t>
            </a:r>
          </a:p>
          <a:p>
            <a:pPr>
              <a:spcAft>
                <a:spcPts val="400"/>
              </a:spcAft>
              <a:defRPr sz="1300"/>
            </a:pPr>
            <a:r>
              <a:t>• 2014 Nilekani+iSPIRT+Asbe Rajan unveils 2015</a:t>
            </a:r>
          </a:p>
          <a:p>
            <a:pPr>
              <a:spcAft>
                <a:spcPts val="400"/>
              </a:spcAft>
              <a:defRPr sz="1300"/>
            </a:pPr>
            <a:r>
              <a:t>• 11-Apr-2016 pilot 21 banks | 25-Aug-2016 public</a:t>
            </a:r>
          </a:p>
          <a:p>
            <a:pPr>
              <a:spcAft>
                <a:spcPts val="400"/>
              </a:spcAft>
              <a:defRPr sz="1300"/>
            </a:pPr>
            <a:r>
              <a:t>• PhonePe 29-Aug-16 | Demonet +600% | BHIM 30-Dec-16</a:t>
            </a:r>
          </a:p>
          <a:p>
            <a:pPr>
              <a:spcAft>
                <a:spcPts val="400"/>
              </a:spcAft>
              <a:defRPr sz="1300"/>
            </a:pPr>
            <a:r>
              <a:t>• BharatQR Feb-17 world-first | Tez Sep-17 | 2.0 Aug-18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164592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GRAPH: FY17 1.78Cr &gt; FY26 24162Cr 13570x | CAGR 188% vol 155% 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2. Latest Aug-2026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Second straight record month | Festive Raksha P2P gifting | Smaller tickets deepening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Aug 24.51B Rs29.82Lcr +22% +20% YoY</a:t>
            </a:r>
          </a:p>
          <a:p>
            <a:pPr>
              <a:spcAft>
                <a:spcPts val="400"/>
              </a:spcAft>
              <a:defRPr sz="1300"/>
            </a:pPr>
            <a:r>
              <a:t>• Daily 791M Rs96205Cr</a:t>
            </a:r>
          </a:p>
          <a:p>
            <a:pPr>
              <a:spcAft>
                <a:spcPts val="400"/>
              </a:spcAft>
              <a:defRPr sz="1300"/>
            </a:pPr>
            <a:r>
              <a:t>• Jul 23.66B Rs29.88Lcr May 23.2B Rs29.9Lcr value high</a:t>
            </a:r>
          </a:p>
          <a:p>
            <a:pPr>
              <a:spcAft>
                <a:spcPts val="400"/>
              </a:spcAft>
              <a:defRPr sz="1300"/>
            </a:pPr>
            <a:r>
              <a:t>• P2M 63% vol 86% &lt;Rs500</a:t>
            </a:r>
          </a:p>
          <a:p>
            <a:pPr>
              <a:spcAft>
                <a:spcPts val="400"/>
              </a:spcAft>
              <a:defRPr sz="1300"/>
            </a:pPr>
            <a:r>
              <a:t>• 11 countries + Uzbekistan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5303520"/>
            <a:ext cx="3657600" cy="9144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NPCI Aug-01-Sep-2026 press screenshot QR</a:t>
            </a:r>
            <a:br/>
            <a:r>
              <a:t>(replace with your shoot)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3. Ecosystem: Who Owns UX?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RBI &gt; NPCI switch &gt; 741 banks &gt; PSP pipes &gt; TPAP apps &gt; 30Cr merchants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5486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PhonePe 10.86B Jul 48% val Rs14.44Lcr</a:t>
            </a:r>
          </a:p>
          <a:p>
            <a:pPr>
              <a:spcAft>
                <a:spcPts val="400"/>
              </a:spcAft>
              <a:defRPr sz="1300"/>
            </a:pPr>
            <a:r>
              <a:t>• GPay 7.65B 32% Rs10.01Lcr Top3 86% vol</a:t>
            </a:r>
          </a:p>
          <a:p>
            <a:pPr>
              <a:spcAft>
                <a:spcPts val="400"/>
              </a:spcAft>
              <a:defRPr sz="1300"/>
            </a:pPr>
            <a:r>
              <a:t>• Paytm 1.90B post-crisis 2024</a:t>
            </a:r>
          </a:p>
          <a:p>
            <a:pPr>
              <a:spcAft>
                <a:spcPts val="400"/>
              </a:spcAft>
              <a:defRPr sz="1300"/>
            </a:pPr>
            <a:r>
              <a:t>• PSP: HDFC/PhonePe Axis/GPay Yes/Paytm</a:t>
            </a:r>
          </a:p>
          <a:p>
            <a:pPr>
              <a:spcAft>
                <a:spcPts val="400"/>
              </a:spcAft>
              <a:defRPr sz="1300"/>
            </a:pPr>
            <a:r>
              <a:t>• Zero-MDR &lt;=2000 0.15% split &gt;2000 absorb</a:t>
            </a:r>
          </a:p>
          <a:p>
            <a:pPr>
              <a:spcAft>
                <a:spcPts val="400"/>
              </a:spcAft>
              <a:defRPr sz="1300"/>
            </a:pPr>
            <a:r>
              <a:t>• Cap 30% to Dec-2026 debate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4. How It Works: Mapper +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VPA/Mobile/QR/NFC &gt; Mapper &gt; Switch &gt; Issuer debit &gt; Acquirer credit &gt; RBI T+0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Onboard: SIM SMS bind + last6 debit + OTP + PIN HSM</a:t>
            </a:r>
          </a:p>
          <a:p>
            <a:pPr>
              <a:spcAft>
                <a:spcPts val="400"/>
              </a:spcAft>
              <a:defRPr sz="1300"/>
            </a:pPr>
            <a:r>
              <a:t>• 2-factor SIM + PIN/bio to 5k Face/Aadhaar alt</a:t>
            </a:r>
          </a:p>
          <a:p>
            <a:pPr>
              <a:spcAft>
                <a:spcPts val="400"/>
              </a:spcAft>
              <a:defRPr sz="1300"/>
            </a:pPr>
            <a:r>
              <a:t>• Flow metro map: Payer &gt; PSP Gate &gt; NPCI Central &gt; Issuer Tunnel &gt; Acquirer &gt; RBI Depot</a:t>
            </a:r>
          </a:p>
          <a:p>
            <a:pPr>
              <a:spcAft>
                <a:spcPts val="400"/>
              </a:spcAft>
              <a:defRPr sz="1300"/>
            </a:pPr>
            <a:r>
              <a:t>• Limits P2P 1L Verified 5L/txn 10L/day Lite 5k/1k no PIN</a:t>
            </a:r>
          </a:p>
          <a:p>
            <a:pPr>
              <a:spcAft>
                <a:spcPts val="400"/>
              </a:spcAft>
              <a:defRPr sz="1300"/>
            </a:pPr>
            <a:r>
              <a:t>• LiteX NFC offline 500/txn | Autopay 15k auto | *99# 5k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645920"/>
            <a:ext cx="2286000" cy="18288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Scan QR hand + phone tick</a:t>
            </a:r>
            <a:br/>
            <a:r>
              <a:t>(replace with your shoot)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645920"/>
            <a:ext cx="2103120" cy="18288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Soundbox Rs100 received</a:t>
            </a:r>
            <a:br/>
            <a:r>
              <a:t>(replace with your shoot)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3657600"/>
            <a:ext cx="4572000" cy="18288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BHIM / GPay PIN pad masked + payee-name check</a:t>
            </a:r>
            <a:br/>
            <a:r>
              <a:t>(replace with your shoot)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5. Innovation: 5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Protocol not product | Frugal | Trust | Voice | Delegation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1 Open VPA vs Visa toll public road any app/bank/QR</a:t>
            </a:r>
          </a:p>
          <a:p>
            <a:pPr>
              <a:spcAft>
                <a:spcPts val="400"/>
              </a:spcAft>
              <a:defRPr sz="1500"/>
            </a:pPr>
            <a:r>
              <a:t>• 2 Zero-POS Rs10 print 65M 709M active QR</a:t>
            </a:r>
          </a:p>
          <a:p>
            <a:pPr>
              <a:spcAft>
                <a:spcPts val="400"/>
              </a:spcAft>
              <a:defRPr sz="1500"/>
            </a:pPr>
            <a:r>
              <a:t>• 3 Soundbox audio trust illiteracy noise</a:t>
            </a:r>
          </a:p>
          <a:p>
            <a:pPr>
              <a:spcAft>
                <a:spcPts val="400"/>
              </a:spcAft>
              <a:defRPr sz="1500"/>
            </a:pPr>
            <a:r>
              <a:t>• 4 10-sec name+PIN+balance 90-sec retry ODR</a:t>
            </a:r>
          </a:p>
          <a:p>
            <a:pPr>
              <a:spcAft>
                <a:spcPts val="400"/>
              </a:spcAft>
              <a:defRPr sz="1500"/>
            </a:pPr>
            <a:r>
              <a:t>• 5 HelloUPI 123PAY Circle 15k Lite offline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201168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QR wall clutter vs one interoperable QR macro</a:t>
            </a:r>
            <a:br/>
            <a:r>
              <a:t>(replace with your shoot)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840480"/>
            <a:ext cx="5029200" cy="18288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Soundbox cutaway SIM&gt;cloud&gt;speaker + language sticker</a:t>
            </a:r>
            <a:br/>
            <a:r>
              <a:t>(replace with your shoot)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6. Sep-2026 Break: End of Zero-MDR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OC237 0.4% &gt;Rs2000 Oct-15 customer free | Govt gazette zero &lt;Rs2000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Paytm disclosure 15-Sep BSE/NSE</a:t>
            </a:r>
          </a:p>
          <a:p>
            <a:pPr>
              <a:spcAft>
                <a:spcPts val="400"/>
              </a:spcAft>
              <a:defRPr sz="1300"/>
            </a:pPr>
            <a:r>
              <a:t>• Steering Asbe+Rajola 22 members</a:t>
            </a:r>
          </a:p>
          <a:p>
            <a:pPr>
              <a:spcAft>
                <a:spcPts val="400"/>
              </a:spcAft>
              <a:defRPr sz="1300"/>
            </a:pPr>
            <a:r>
              <a:t>• &lt;2000 exempt protects kirana</a:t>
            </a:r>
          </a:p>
          <a:p>
            <a:pPr>
              <a:spcAft>
                <a:spcPts val="400"/>
              </a:spcAft>
              <a:defRPr sz="1300"/>
            </a:pPr>
            <a:r>
              <a:t>• &gt;2000 0.4% sustains switch</a:t>
            </a:r>
          </a:p>
          <a:p>
            <a:pPr>
              <a:spcAft>
                <a:spcPts val="400"/>
              </a:spcAft>
              <a:defRPr sz="1300"/>
            </a:pPr>
            <a:r>
              <a:t>• Ask 25bps &gt;40L turnover</a:t>
            </a:r>
          </a:p>
          <a:p>
            <a:pPr>
              <a:spcAft>
                <a:spcPts val="400"/>
              </a:spcAft>
              <a:defRPr sz="1300"/>
            </a:pPr>
            <a:r>
              <a:t>• Rs0.06/txn FY25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7. Frictions +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Duopoly Outage Fraud Exclusion &gt; DPIP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Duopoly 85% 2 US cap dilemma WhatsApp 500M</a:t>
            </a:r>
          </a:p>
          <a:p>
            <a:pPr>
              <a:spcAft>
                <a:spcPts val="400"/>
              </a:spcAft>
              <a:defRPr sz="1300"/>
            </a:pPr>
            <a:r>
              <a:t>• Outage 763M/day flood Aug-25 caps balance 50/day non-peak</a:t>
            </a:r>
          </a:p>
          <a:p>
            <a:pPr>
              <a:spcAft>
                <a:spcPts val="400"/>
              </a:spcAft>
              <a:defRPr sz="1300"/>
            </a:pPr>
            <a:r>
              <a:t>• Fraud Rs22495Cr 2.81M 8.5L mules Telegram gig 3-5k IDs/day</a:t>
            </a:r>
          </a:p>
          <a:p>
            <a:pPr>
              <a:spcAft>
                <a:spcPts val="400"/>
              </a:spcAft>
              <a:defRPr sz="1300"/>
            </a:pPr>
            <a:r>
              <a:t>• Freeze hurts kirana CFCFRMS saved 11158Cr</a:t>
            </a:r>
          </a:p>
          <a:p>
            <a:pPr>
              <a:spcAft>
                <a:spcPts val="400"/>
              </a:spcAft>
              <a:defRPr sz="1300"/>
            </a:pPr>
            <a:r>
              <a:t>• Fix DPIP 01-Sep-26 8 banks hashed AI score .bank.in kill-switch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Failed-but-debited pending screen honest UI</a:t>
            </a:r>
            <a:br/>
            <a:r>
              <a:t>(replace with your shoot)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657600"/>
            <a:ext cx="5029200" cy="18288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Mule bust news clip + 1930 helpline poster</a:t>
            </a:r>
            <a:br/>
            <a:r>
              <a:t>(replace with your shoot)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8. Learnings: Trust Is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Designed protocol incentives inclusion not UI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Decoupling + frugal + audible + vernacular + delegation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Switch + Soundbox + name-check is interface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Next: dashboard plain cards one Soundbox wait-tracker starter packs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QR corners to NPCI RBI PIB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463040"/>
            <a:ext cx="3474720" cy="411480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PHOTO:</a:t>
            </a:r>
            <a:br/>
            <a:r>
              <a:t>Group with QR board jury interaction</a:t>
            </a:r>
            <a:br/>
            <a:r>
              <a:t>Scan Rs1 &gt; tick + speaker</a:t>
            </a:r>
            <a:br/>
            <a:r>
              <a:t>(replace with your shoot)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