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UPI: Design Innovation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NIFT Midterm 18 Sept 2026 | Group of 5 | stuti.bisen@nift.ac.in</a:t>
            </a:r>
          </a:p>
          <a:p>
            <a:r>
              <a:t>24.51B Aug-2026 | Rs29.82Lcr | 49% global real-time | 741 banks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How It Started 2008-2016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NPCI Dec-2008 RBI+IBA JV | IMPS 22-Nov-2010 7 banks 24x7</a:t>
            </a:r>
          </a:p>
          <a:p>
            <a:r>
              <a:t>Nilekani adviser + iSPIRT 2014 + Asbe steering | Rajan unveils Feb-2015</a:t>
            </a:r>
          </a:p>
          <a:p>
            <a:r>
              <a:t>Pilot 11-Apr-2016 21 banks | Public 25-Aug-2016</a:t>
            </a:r>
          </a:p>
          <a:p>
            <a:r>
              <a:t>PhonePe-Yes 29-Aug-2016 first PSP | Demonetization 8-Nov-2016 +600%</a:t>
            </a:r>
          </a:p>
          <a:p>
            <a:r>
              <a:t>BHIM 30-Dec-2016 Modi | BharatQR 20-Feb-2017 world-first | Tez 18-Sep-2017 | Paytm 07-Nov-2017 | UPI 2.0 16-Aug-2018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How It Works Mapper+Switch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 VPA / Mobile+name / QR upi://pay / NFC Intent</a:t>
            </a:r>
          </a:p>
          <a:p>
            <a:r>
              <a:t>Onboard: SIM SMS bind + list account + last6 debit + OTP + UPI-PIN HSM</a:t>
            </a:r>
          </a:p>
          <a:p>
            <a:r>
              <a:t>Flow: Payer App &gt; PSP Switch &gt; NPCI Mapper+Switch &gt; Issuer debit &gt; Acquirer credit IMPS &gt; SMS+push</a:t>
            </a:r>
          </a:p>
          <a:p>
            <a:r>
              <a:t>Settle net T+0 RBI | 2-factor SIM+PIN / bio to 5k</a:t>
            </a:r>
          </a:p>
          <a:p>
            <a:r>
              <a:t>Limits: P2P 1L/day Verified P2M 5L/txn 10L/day | Lite 5k load 1k/txn no PIN | LiteX NFC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Ecosystem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RBI regulator PSS 2007 45-day | NPCI Sec-8 switch URS/URCS</a:t>
            </a:r>
          </a:p>
          <a:p>
            <a:r>
              <a:t>Issuer 741 banks debit | Acquirer credit 0.15% &lt;=2000 split</a:t>
            </a:r>
          </a:p>
          <a:p>
            <a:r>
              <a:t>PSP HDFC/PhonePe Axis/GPay Yes/Paytm | TPAP PhonePe 46% 10.86B GPay 35% 7.65B Paytm 7% Top3 86%</a:t>
            </a:r>
          </a:p>
          <a:p>
            <a:r>
              <a:t>Merch 30Cr 709M active QR PoS 12.12M | BHIM reference | NETC 12.37Cr tags | RuPay CC on UPI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Innovation Protocol Not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VPA vs closed wallets/Visa: public road not toll</a:t>
            </a:r>
          </a:p>
          <a:p>
            <a:r>
              <a:t>Zero-POS Rs10 QR 65M merchants street vendors</a:t>
            </a:r>
          </a:p>
          <a:p>
            <a:r>
              <a:t>Soundbox Rs50 received 11 langs trust speaker</a:t>
            </a:r>
          </a:p>
          <a:p>
            <a:r>
              <a:t>10-sec name display + PIN + balance honest pending</a:t>
            </a:r>
          </a:p>
          <a:p>
            <a:r>
              <a:t>HelloUPI voice BillPay 123PAY *99# 13 langs</a:t>
            </a:r>
          </a:p>
          <a:p>
            <a:r>
              <a:t>Circle delegation 15k/mo family/staff/IoT | Autopay mandate | Credit line any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Latest Sep-2026 Record + MDR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Aug 24.51B Rs29.82Lcr record +22% +20% YoY daily 791M Rs96205Cr</a:t>
            </a:r>
          </a:p>
          <a:p>
            <a:r>
              <a:t>Jul 23.66B Rs29.88Lcr May 23.2B Rs29.9Lcr high value</a:t>
            </a:r>
          </a:p>
          <a:p>
            <a:r>
              <a:t>FY26 24162Cr Rs314Lcr CAGR 188% 155% 4000x 10yr P2M 63% 86% below 500</a:t>
            </a:r>
          </a:p>
          <a:p>
            <a:r>
              <a:t>11 countries + Uzbekistan Singapore UAE France Nepal etc</a:t>
            </a:r>
          </a:p>
          <a:p>
            <a:r>
              <a:t>15-Sep-2026 OC237 MDR 0.4% P2M &gt;Rs2000 eff 15-Oct-2026 customer free</a:t>
            </a:r>
          </a:p>
          <a:p>
            <a:r>
              <a:t>Govt 14-Sep gazette zero &lt;Rs2000 | Steering Asbe+Rajola 22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Hero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24.51B Aug 763M/day | 29.82Lcr Aug 314Lcr FY26</a:t>
            </a:r>
          </a:p>
          <a:p>
            <a:r>
              <a:t>49% global IMF #1 | 703 banks FY26 741 Jul 55Cr users</a:t>
            </a:r>
          </a:p>
          <a:p>
            <a:r>
              <a:t>PhonePe+GPay 81% duopoly | 709M active QR +21%</a:t>
            </a:r>
          </a:p>
          <a:p>
            <a:r>
              <a:t>Subsidy Rs0.06/txn FY25 1500Cr | Fraud 2.81M Rs22495Cr 2025</a:t>
            </a:r>
          </a:p>
          <a:p>
            <a:r>
              <a:t>8.5L mules 700 branches CBI | DPIP Smart Registry 01-Sep-2026 8 banks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Frictions +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Duopoly 85% cap to Dec-2026 concentration vs growth</a:t>
            </a:r>
          </a:p>
          <a:p>
            <a:r>
              <a:t>Outage 763M/day 1hr flood standstill Aug-2025 caps balance 50/day autopay non-peak</a:t>
            </a:r>
          </a:p>
          <a:p>
            <a:r>
              <a:t>Fraud mule burst crypto freeze kirana burden CFCFRMS saved 11158Cr</a:t>
            </a:r>
          </a:p>
          <a:p>
            <a:r>
              <a:t>Exclusion smartphone gender English dispute</a:t>
            </a:r>
          </a:p>
          <a:p>
            <a:r>
              <a:t>Fix: DPIP AI score .bank.in kill-switch honest UI vernacular voice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Learnings What NIFT Can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journey dashboard Apply&gt;Pay&gt;Autopay&gt;Dispute</a:t>
            </a:r>
          </a:p>
          <a:p>
            <a:r>
              <a:t>Plain NGP-like cards + transfer kits + wait tracker 90-sec</a:t>
            </a:r>
          </a:p>
          <a:p>
            <a:r>
              <a:t>One Soundbox all QRs May-2026 plan | Data starter packs</a:t>
            </a:r>
          </a:p>
          <a:p>
            <a:r>
              <a:t>Trust is product design is switch</a:t>
            </a:r>
          </a:p>
          <a:p>
            <a:r>
              <a:t>QR corners to NPCI RBI PIB Sansad free proof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